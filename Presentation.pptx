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5F6"/>
    <a:srgbClr val="FFFFFF"/>
    <a:srgbClr val="9F2D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E4B7D9-6C89-4E36-9EBC-CD6E312901B0}" v="610" dt="2026-03-25T19:36:24.547"/>
    <p1510:client id="{A35534CE-7696-4EE0-AB35-0B17A494512E}" v="1063" dt="2026-03-25T21:52:22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D95B2-CDB1-4118-BDFD-B8B0D617282A}" type="datetimeFigureOut">
              <a:rPr lang="ru-RU" smtClean="0"/>
              <a:t>31.03.2026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F627D-C6E9-4C45-925A-72616D7FF7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324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B3A24-B7F2-459C-AC1B-15FF49F448E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917DD-80A9-4B23-B0E0-3D651708732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FA765-95F7-41B4-9F76-416D1441709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48083-441B-4564-8FD1-8E1C90CB3AF7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1C61E-48F0-4507-81D0-4E24A393D00B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5A5CC-8105-4ABF-9A13-854096B63FBA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FBDD3-386E-409B-89DB-C9AE72C4DEC3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C0CD3-F522-4424-B243-364F5C776B0F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B700-8B87-472D-AD64-C502611B0BC3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DC914-B7C4-4CC4-88E7-1E6A28411A1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A379D-219C-4648-8E20-065C84DF5AB1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DE19BA-15ED-4210-B909-8A85B9EA00B2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49677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Методы</a:t>
            </a:r>
            <a:r>
              <a:rPr lang="en-US" sz="40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анализа</a:t>
            </a:r>
            <a:r>
              <a:rPr lang="en-US" sz="40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распространения</a:t>
            </a:r>
            <a:r>
              <a:rPr lang="en-US" sz="40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лазерного</a:t>
            </a:r>
            <a:r>
              <a:rPr lang="en-US" sz="40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пучка</a:t>
            </a:r>
            <a:r>
              <a:rPr lang="en-US" sz="40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в </a:t>
            </a:r>
            <a:r>
              <a:rPr lang="en-US" sz="4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атмосферной</a:t>
            </a:r>
            <a:r>
              <a:rPr lang="en-US" sz="4000" dirty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турбулентности</a:t>
            </a:r>
            <a:endParaRPr lang="en-US" sz="4000">
              <a:solidFill>
                <a:schemeClr val="bg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4B06E-AFC3-791C-AA43-32D654C3556E}"/>
              </a:ext>
            </a:extLst>
          </p:cNvPr>
          <p:cNvSpPr txBox="1"/>
          <p:nvPr/>
        </p:nvSpPr>
        <p:spPr>
          <a:xfrm>
            <a:off x="4680856" y="777551"/>
            <a:ext cx="1181877" cy="6842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CD3F6-4709-92C4-5329-C8CD226B9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85" y="376011"/>
            <a:ext cx="4637315" cy="1336448"/>
          </a:xfrm>
        </p:spPr>
        <p:txBody>
          <a:bodyPr/>
          <a:lstStyle/>
          <a:p>
            <a:r>
              <a:rPr lang="en-US" b="1" dirty="0" err="1">
                <a:latin typeface="Open Sans"/>
                <a:ea typeface="Open Sans"/>
                <a:cs typeface="Open Sans"/>
              </a:rPr>
              <a:t>Актуальность</a:t>
            </a:r>
            <a:endParaRPr lang="en-US" b="1">
              <a:latin typeface="Open Sans"/>
              <a:ea typeface="Open Sans"/>
              <a:cs typeface="Open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88B56-C597-2972-2019-D5C0CDC66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47" y="2377253"/>
            <a:ext cx="11613306" cy="29998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dirty="0" err="1">
                <a:latin typeface="Open Sans"/>
                <a:ea typeface="Open Sans"/>
                <a:cs typeface="Open Sans"/>
              </a:rPr>
              <a:t>Атмосферная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турбулентность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остаётся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одной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из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главных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проблем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современных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лазерных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систем</a:t>
            </a:r>
            <a:r>
              <a:rPr lang="en-US" sz="1800" dirty="0">
                <a:latin typeface="Open Sans"/>
                <a:ea typeface="Open Sans"/>
                <a:cs typeface="Open Sans"/>
              </a:rPr>
              <a:t>.</a:t>
            </a:r>
            <a:endParaRPr lang="en-US" dirty="0"/>
          </a:p>
          <a:p>
            <a:pPr>
              <a:lnSpc>
                <a:spcPct val="100000"/>
              </a:lnSpc>
              <a:buNone/>
            </a:pPr>
            <a:r>
              <a:rPr lang="en-US" sz="1800" dirty="0" err="1">
                <a:latin typeface="Open Sans"/>
                <a:ea typeface="Open Sans"/>
                <a:cs typeface="Open Sans"/>
              </a:rPr>
              <a:t>Она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вызывает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случайные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флуктуации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пучка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что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существенно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снижает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точность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наведения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</a:t>
            </a:r>
          </a:p>
          <a:p>
            <a:pPr>
              <a:lnSpc>
                <a:spcPct val="100000"/>
              </a:lnSpc>
              <a:buNone/>
            </a:pP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качество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л</a:t>
            </a:r>
            <a:r>
              <a:rPr lang="ru-RU" sz="1800" dirty="0" err="1">
                <a:latin typeface="Open Sans"/>
                <a:ea typeface="Open Sans"/>
                <a:cs typeface="Open Sans"/>
              </a:rPr>
              <a:t>азерных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измерений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и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надёжность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лазерной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связи</a:t>
            </a:r>
            <a:r>
              <a:rPr lang="en-US" sz="1800" dirty="0">
                <a:latin typeface="Open Sans"/>
                <a:ea typeface="Open Sans"/>
                <a:cs typeface="Open Sans"/>
              </a:rPr>
              <a:t>.</a:t>
            </a:r>
            <a:endParaRPr lang="en-US" dirty="0"/>
          </a:p>
          <a:p>
            <a:pPr>
              <a:lnSpc>
                <a:spcPct val="100000"/>
              </a:lnSpc>
              <a:buNone/>
            </a:pPr>
            <a:endParaRPr lang="en-US" sz="1800" dirty="0">
              <a:latin typeface="Open Sans"/>
              <a:ea typeface="Open Sans"/>
              <a:cs typeface="Open Sans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dirty="0">
                <a:latin typeface="Open Sans"/>
                <a:ea typeface="Open Sans"/>
                <a:cs typeface="Open Sans"/>
              </a:rPr>
              <a:t>В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условиях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активного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развития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лазерных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технологий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в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обороне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авиации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беспилотных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аппаратах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и</a:t>
            </a:r>
            <a:endParaRPr lang="en-US" dirty="0">
              <a:latin typeface="Aptos" panose="020B0004020202020204"/>
              <a:ea typeface="Open Sans"/>
              <a:cs typeface="Open Sans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космической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связи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точная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оценка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влияния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атмосферных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возмущений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на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характеристики</a:t>
            </a:r>
            <a:endParaRPr lang="en-US" dirty="0" err="1">
              <a:latin typeface="Aptos" panose="020B0004020202020204"/>
              <a:ea typeface="Open Sans"/>
              <a:cs typeface="Open Sans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dirty="0" err="1">
                <a:latin typeface="Open Sans"/>
                <a:ea typeface="Open Sans"/>
                <a:cs typeface="Open Sans"/>
              </a:rPr>
              <a:t>лазерного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пучка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приобретает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особую</a:t>
            </a:r>
            <a:r>
              <a:rPr lang="en-US" sz="1800" dirty="0">
                <a:latin typeface="Open Sans"/>
                <a:ea typeface="Open Sans"/>
                <a:cs typeface="Open Sans"/>
              </a:rPr>
              <a:t> 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важность</a:t>
            </a:r>
            <a:r>
              <a:rPr lang="en-US" sz="1800" dirty="0">
                <a:latin typeface="Open Sans"/>
                <a:ea typeface="Open Sans"/>
                <a:cs typeface="Open Sans"/>
              </a:rPr>
              <a:t>.</a:t>
            </a:r>
            <a:endParaRPr lang="en-US" dirty="0"/>
          </a:p>
          <a:p>
            <a:pPr>
              <a:lnSpc>
                <a:spcPct val="100000"/>
              </a:lnSpc>
              <a:buNone/>
            </a:pPr>
            <a:endParaRPr lang="en-US" sz="18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5C6AD2-ACD1-67D4-34F7-B177D7BF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2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658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241B2-55B8-D6DB-4071-AF133C84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549F-D77E-CD98-33A4-CE866BBC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4898571" cy="1336448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Open Sans"/>
                <a:ea typeface="Open Sans"/>
                <a:cs typeface="Open Sans"/>
              </a:rPr>
              <a:t>Методы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 </a:t>
            </a:r>
            <a:r>
              <a:rPr lang="en-US" sz="3600" b="1" dirty="0" err="1">
                <a:latin typeface="Open Sans"/>
                <a:ea typeface="Open Sans"/>
                <a:cs typeface="Open Sans"/>
              </a:rPr>
              <a:t>подсчета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 </a:t>
            </a:r>
            <a:br>
              <a:rPr lang="en-US" sz="3600" b="1" dirty="0">
                <a:latin typeface="Open Sans"/>
                <a:ea typeface="Open Sans"/>
                <a:cs typeface="Open Sans"/>
              </a:rPr>
            </a:br>
            <a:r>
              <a:rPr lang="en-US" sz="3600" b="1" dirty="0" err="1">
                <a:latin typeface="Open Sans"/>
                <a:ea typeface="Open Sans"/>
                <a:cs typeface="Open Sans"/>
              </a:rPr>
              <a:t>рассеивания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 </a:t>
            </a:r>
            <a:r>
              <a:rPr lang="en-US" sz="3600" b="1" dirty="0" err="1">
                <a:latin typeface="Open Sans"/>
                <a:ea typeface="Open Sans"/>
                <a:cs typeface="Open Sans"/>
              </a:rPr>
              <a:t>пучка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858CA362-35BC-0373-C19D-7C9E13E49F4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6569125"/>
                  </p:ext>
                </p:extLst>
              </p:nvPr>
            </p:nvGraphicFramePr>
            <p:xfrm>
              <a:off x="1" y="1710612"/>
              <a:ext cx="12191999" cy="40872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46384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2104845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2435355">
                      <a:extLst>
                        <a:ext uri="{9D8B030D-6E8A-4147-A177-3AD203B41FA5}">
                          <a16:colId xmlns:a16="http://schemas.microsoft.com/office/drawing/2014/main" val="174589655"/>
                        </a:ext>
                      </a:extLst>
                    </a:gridCol>
                    <a:gridCol w="3033382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2272033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627529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/>
                              <a:ea typeface="Open Sans"/>
                              <a:cs typeface="Open Sans"/>
                            </a:rPr>
                            <a:t>Модель</a:t>
                          </a:r>
                          <a:endParaRPr lang="en-US" dirty="0">
                            <a:latin typeface="Open Sans"/>
                            <a:ea typeface="Open Sans"/>
                            <a:cs typeface="Open Sans"/>
                          </a:endParaRP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Формула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Лучше</a:t>
                          </a:r>
                          <a:r>
                            <a:rPr lang="en-US" sz="1800" dirty="0">
                              <a:latin typeface="Open Sans"/>
                              <a:ea typeface="Open Sans"/>
                              <a:cs typeface="Open Sans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всего</a:t>
                          </a:r>
                          <a:r>
                            <a:rPr lang="en-US" sz="1800" dirty="0">
                              <a:latin typeface="Open Sans"/>
                              <a:ea typeface="Open Sans"/>
                              <a:cs typeface="Open Sans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подходит</a:t>
                          </a:r>
                          <a:r>
                            <a:rPr lang="en-US" sz="1800" dirty="0">
                              <a:latin typeface="Open Sans"/>
                              <a:ea typeface="Open Sans"/>
                              <a:cs typeface="Open Sans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для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Плюсы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Минусы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1709837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1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Геометрическая модель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𝑑</m:t>
                                </m:r>
                                <m:r>
                                  <a:rPr lang="en-US" sz="1800" b="0" i="1" u="none" strike="noStrike" baseline="0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</m:t>
                                </m:r>
                                <m:r>
                                  <a:rPr lang="en-US" sz="1800" b="0" i="1" u="none" strike="noStrike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≈</m:t>
                                </m:r>
                                <m:sSub>
                                  <m:sSubPr>
                                    <m:ctrlPr>
                                      <a:rPr lang="en-US" sz="1800" b="0" i="1" u="none" strike="noStrike" noProof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u="none" strike="noStrike" noProof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800" b="0" i="1" u="none" strike="noStrike" noProof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800" b="0" i="1" u="none" strike="noStrike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∙</m:t>
                                </m:r>
                                <m:r>
                                  <a:rPr lang="en-US" sz="1800" b="0" i="1" u="none" strike="noStrike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𝜃</m:t>
                                </m:r>
                                <m:r>
                                  <a:rPr lang="en-US" sz="1800" b="0" i="1" u="none" strike="noStrike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 ∙</m:t>
                                </m:r>
                                <m:r>
                                  <a:rPr lang="en-US" sz="1800" b="0" i="1" u="none" strike="noStrike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>
                            <a:buNone/>
                          </a:pPr>
                          <a:endParaRPr lang="en-US" sz="18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Больших расстояний (</a:t>
                          </a:r>
                          <a:r>
                            <a:rPr lang="en-US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L ≫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u="none" strike="noStrike" noProof="0" smtClean="0">
                                      <a:latin typeface="Cambria Math" panose="02040503050406030204" pitchFamily="18" charset="0"/>
                                      <a:ea typeface="Open Sans"/>
                                      <a:cs typeface="Open Sans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1" u="none" strike="noStrike" noProof="0" smtClean="0">
                                      <a:latin typeface="Cambria Math" panose="02040503050406030204" pitchFamily="18" charset="0"/>
                                      <a:ea typeface="Open Sans"/>
                                      <a:cs typeface="Open Sans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1" u="none" strike="noStrike" noProof="0" smtClean="0">
                                      <a:latin typeface="Cambria Math" panose="02040503050406030204" pitchFamily="18" charset="0"/>
                                      <a:ea typeface="Open Sans"/>
                                      <a:cs typeface="Open Sans"/>
                                    </a:rPr>
                                    <m:t>r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)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Очень простая реализация; интуитивно понятна; быстро считается; один линейный параметр </a:t>
                          </a:r>
                          <a:r>
                            <a:rPr lang="el-GR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θ</a:t>
                          </a:r>
                          <a:endParaRPr lang="en-US" sz="18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>
                            <a:buNone/>
                          </a:pP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 учитывает дифракцию в ближней зоне; нет понятия талии пучка</a:t>
                          </a:r>
                          <a:endParaRPr lang="en-US" sz="18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>
                            <a:buNone/>
                          </a:pP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1709837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 b="1" i="0" u="none" strike="noStrike" noProof="0" dirty="0" err="1">
                              <a:highlight>
                                <a:srgbClr val="F5F5F5"/>
                              </a:highlight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Гауссова</a:t>
                          </a:r>
                          <a:r>
                            <a:rPr lang="en-US" sz="1800" b="1" i="0" u="none" strike="noStrike" noProof="0" dirty="0">
                              <a:highlight>
                                <a:srgbClr val="F5F5F5"/>
                              </a:highlight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b="1" i="0" u="none" strike="noStrike" noProof="0" dirty="0" err="1">
                              <a:highlight>
                                <a:srgbClr val="F5F5F5"/>
                              </a:highlight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модель</a:t>
                          </a:r>
                          <a:endParaRPr lang="en-US" dirty="0" err="1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 =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0 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 + </m:t>
                                    </m:r>
                                    <m:sSup>
                                      <m:s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z</m:t>
                                            </m:r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z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r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  <m: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ru-RU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Точных расчётов во всей зоне (особенно вблизи талии)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Физически корректная; точно описывает поведение пучка на всех расстояниях; учитывает длину Рэлея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Требует двух параметров (</a:t>
                          </a:r>
                          <a:r>
                            <a:rPr lang="en-US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w₀ </a:t>
                          </a: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и </a:t>
                          </a:r>
                          <a:r>
                            <a:rPr lang="en-US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u="none" strike="noStrike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1" u="none" strike="noStrike" noProof="0" smtClean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1" u="none" strike="noStrike" noProof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или </a:t>
                          </a:r>
                          <a:r>
                            <a:rPr lang="el-GR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λ); </a:t>
                          </a: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сложнее в реализации и интерпретации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858CA362-35BC-0373-C19D-7C9E13E49F4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6569125"/>
                  </p:ext>
                </p:extLst>
              </p:nvPr>
            </p:nvGraphicFramePr>
            <p:xfrm>
              <a:off x="1" y="1710612"/>
              <a:ext cx="12191999" cy="40872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46384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2104845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2435355">
                      <a:extLst>
                        <a:ext uri="{9D8B030D-6E8A-4147-A177-3AD203B41FA5}">
                          <a16:colId xmlns:a16="http://schemas.microsoft.com/office/drawing/2014/main" val="174589655"/>
                        </a:ext>
                      </a:extLst>
                    </a:gridCol>
                    <a:gridCol w="3033382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2272033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/>
                              <a:ea typeface="Open Sans"/>
                              <a:cs typeface="Open Sans"/>
                            </a:rPr>
                            <a:t>Модель</a:t>
                          </a:r>
                          <a:endParaRPr lang="en-US" dirty="0">
                            <a:latin typeface="Open Sans"/>
                            <a:ea typeface="Open Sans"/>
                            <a:cs typeface="Open Sans"/>
                          </a:endParaRP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Формула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Лучше</a:t>
                          </a:r>
                          <a:r>
                            <a:rPr lang="en-US" sz="1800" dirty="0">
                              <a:latin typeface="Open Sans"/>
                              <a:ea typeface="Open Sans"/>
                              <a:cs typeface="Open Sans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всего</a:t>
                          </a:r>
                          <a:r>
                            <a:rPr lang="en-US" sz="1800" dirty="0">
                              <a:latin typeface="Open Sans"/>
                              <a:ea typeface="Open Sans"/>
                              <a:cs typeface="Open Sans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подходит</a:t>
                          </a:r>
                          <a:r>
                            <a:rPr lang="en-US" sz="1800" dirty="0">
                              <a:latin typeface="Open Sans"/>
                              <a:ea typeface="Open Sans"/>
                              <a:cs typeface="Open Sans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/>
                              <a:ea typeface="Open Sans"/>
                              <a:cs typeface="Open Sans"/>
                            </a:rPr>
                            <a:t>для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Плюсы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Минусы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1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Геометрическая модель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2174" t="-38462" r="-369565" b="-98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83000" t="-38462" r="-218750" b="-98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Очень простая реализация; интуитивно понятна; быстро считается; один линейный параметр </a:t>
                          </a:r>
                          <a:r>
                            <a:rPr lang="el-GR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θ</a:t>
                          </a:r>
                          <a:endParaRPr lang="en-US" sz="18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>
                            <a:buNone/>
                          </a:pP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 учитывает дифракцию в ближней зоне; нет понятия талии пучка</a:t>
                          </a:r>
                          <a:endParaRPr lang="en-US" sz="18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>
                            <a:buNone/>
                          </a:pP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1709837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 b="1" i="0" u="none" strike="noStrike" noProof="0" dirty="0" err="1">
                              <a:highlight>
                                <a:srgbClr val="F5F5F5"/>
                              </a:highlight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Гауссова</a:t>
                          </a:r>
                          <a:r>
                            <a:rPr lang="en-US" sz="1800" b="1" i="0" u="none" strike="noStrike" noProof="0" dirty="0">
                              <a:highlight>
                                <a:srgbClr val="F5F5F5"/>
                              </a:highlight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b="1" i="0" u="none" strike="noStrike" noProof="0" dirty="0" err="1">
                              <a:highlight>
                                <a:srgbClr val="F5F5F5"/>
                              </a:highlight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модель</a:t>
                          </a:r>
                          <a:endParaRPr lang="en-US" dirty="0" err="1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2174" t="-140925" r="-369565" b="-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Точных расчётов во всей зоне (особенно вблизи талии)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az-Cyrl-AZ" sz="18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Физически корректная; точно описывает поведение пучка на всех расстояниях; учитывает длину Рэлея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36729" t="-140925" r="-1340" b="-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5403EB-C0C7-DEC2-A414-B6C388592B06}"/>
                  </a:ext>
                </a:extLst>
              </p:cNvPr>
              <p:cNvSpPr txBox="1"/>
              <p:nvPr/>
            </p:nvSpPr>
            <p:spPr>
              <a:xfrm>
                <a:off x="56195" y="6106417"/>
                <a:ext cx="8268344" cy="58990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𝑑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 —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начальный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диаметр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пучка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; θ —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угол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расходимости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(в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радианах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); L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или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z —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расстояние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;</a:t>
                </a:r>
              </a:p>
              <a:p>
                <a:pPr>
                  <a:spcBef>
                    <a:spcPts val="10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𝑤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—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радиус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пучка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в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талии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;  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1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r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  <a:ea typeface="Open Sans"/>
                        <a:cs typeface="Open Sans"/>
                      </a:rPr>
                      <m:t> </m:t>
                    </m:r>
                  </m:oMath>
                </a14:m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—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длина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 </a:t>
                </a:r>
                <a:r>
                  <a:rPr lang="en-US" sz="1200" dirty="0" err="1">
                    <a:latin typeface="Open Sans"/>
                    <a:ea typeface="Open Sans"/>
                    <a:cs typeface="Open Sans"/>
                  </a:rPr>
                  <a:t>Рэлея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5403EB-C0C7-DEC2-A414-B6C388592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5" y="6106417"/>
                <a:ext cx="8268344" cy="589905"/>
              </a:xfrm>
              <a:prstGeom prst="rect">
                <a:avLst/>
              </a:prstGeom>
              <a:blipFill>
                <a:blip r:embed="rId4"/>
                <a:stretch>
                  <a:fillRect t="-1042" b="-72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C42FD03-7FF5-6AB4-C608-4313AD17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3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65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B47A3-8DE7-B192-7D68-12546CF9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9296-756C-DB39-D289-CBCA6FE8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4898571" cy="1336448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Open Sans"/>
                <a:ea typeface="Open Sans"/>
                <a:cs typeface="Open Sans"/>
              </a:rPr>
              <a:t>Методы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 </a:t>
            </a:r>
            <a:r>
              <a:rPr lang="en-US" sz="3600" b="1" dirty="0" err="1">
                <a:latin typeface="Open Sans"/>
                <a:ea typeface="Open Sans"/>
                <a:cs typeface="Open Sans"/>
              </a:rPr>
              <a:t>подсчета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 </a:t>
            </a:r>
            <a:br>
              <a:rPr lang="en-US" sz="3600" b="1" dirty="0">
                <a:latin typeface="Open Sans"/>
                <a:ea typeface="Open Sans"/>
                <a:cs typeface="Open Sans"/>
              </a:rPr>
            </a:br>
            <a:r>
              <a:rPr lang="en-US" sz="3600" b="1" dirty="0" err="1">
                <a:latin typeface="Open Sans"/>
                <a:ea typeface="Open Sans"/>
                <a:cs typeface="Open Sans"/>
              </a:rPr>
              <a:t>рассеивания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 </a:t>
            </a:r>
            <a:r>
              <a:rPr lang="en-US" sz="3600" b="1" dirty="0" err="1">
                <a:latin typeface="Open Sans"/>
                <a:ea typeface="Open Sans"/>
                <a:cs typeface="Open Sans"/>
              </a:rPr>
              <a:t>пучка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C870E7-58AE-995F-6272-01591BDEA2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42149"/>
                <a:ext cx="10515600" cy="2177849"/>
              </a:xfrm>
            </p:spPr>
            <p:txBody>
              <a:bodyPr vert="horz" lIns="91440" tIns="45720" rIns="91440" bIns="45720" rtlCol="0" anchor="t">
                <a:normAutofit/>
              </a:bodyPr>
              <a:lstStyle/>
              <a:p>
                <a:endParaRPr lang="en-US" sz="1800" dirty="0"/>
              </a:p>
              <a:p>
                <a:pPr>
                  <a:buNone/>
                </a:pP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Мы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используем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геометрическую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модель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как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основную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,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потому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что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:</a:t>
                </a:r>
              </a:p>
              <a:p>
                <a:pPr>
                  <a:buFont typeface="Arial"/>
                </a:pP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Нас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интересуют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в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первую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очередь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 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большие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расстояния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 (L 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).</a:t>
                </a:r>
              </a:p>
              <a:p>
                <a:pPr>
                  <a:buFont typeface="Arial"/>
                </a:pP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На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таких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дистанциях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обе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модели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дают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практически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одинаковый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результат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.</a:t>
                </a:r>
              </a:p>
              <a:p>
                <a:pPr>
                  <a:buFont typeface="Arial"/>
                </a:pP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Геометрическая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модель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намного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проще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и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быстрее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 в </a:t>
                </a:r>
                <a:r>
                  <a:rPr lang="en-US" sz="1800" dirty="0" err="1">
                    <a:latin typeface="Open Sans"/>
                    <a:ea typeface="Open Sans"/>
                    <a:cs typeface="Open Sans"/>
                  </a:rPr>
                  <a:t>расчётах</a:t>
                </a:r>
                <a:r>
                  <a:rPr lang="en-US" sz="1800" dirty="0">
                    <a:latin typeface="Open Sans"/>
                    <a:ea typeface="Open Sans"/>
                    <a:cs typeface="Open Sans"/>
                  </a:rPr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C870E7-58AE-995F-6272-01591BDEA2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42149"/>
                <a:ext cx="10515600" cy="2177849"/>
              </a:xfrm>
              <a:blipFill>
                <a:blip r:embed="rId3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A9B2F7E-7E95-4DCD-1208-4FE124C6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4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18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2AF69-52CB-FE0A-3302-7DED9417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40CD-5136-5F78-53E1-FD9F0ADA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4898571" cy="1336448"/>
          </a:xfrm>
        </p:spPr>
        <p:txBody>
          <a:bodyPr>
            <a:normAutofit fontScale="90000"/>
          </a:bodyPr>
          <a:lstStyle/>
          <a:p>
            <a:r>
              <a:rPr lang="en-US" sz="3600" b="1" dirty="0" err="1">
                <a:latin typeface="Open Sans"/>
                <a:ea typeface="Open Sans"/>
                <a:cs typeface="Open Sans"/>
              </a:rPr>
              <a:t>Методы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 </a:t>
            </a:r>
            <a:r>
              <a:rPr lang="en-US" sz="3600" b="1" dirty="0" err="1">
                <a:latin typeface="Open Sans"/>
                <a:ea typeface="Open Sans"/>
                <a:cs typeface="Open Sans"/>
              </a:rPr>
              <a:t>фильтрации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 </a:t>
            </a:r>
            <a:br>
              <a:rPr lang="en-US" sz="3600" b="1" dirty="0">
                <a:latin typeface="Open Sans"/>
                <a:ea typeface="Open Sans"/>
                <a:cs typeface="Open Sans"/>
              </a:rPr>
            </a:br>
            <a:r>
              <a:rPr lang="en-US" sz="3600" b="1" dirty="0" err="1">
                <a:latin typeface="Open Sans"/>
                <a:ea typeface="Open Sans"/>
                <a:cs typeface="Open Sans"/>
              </a:rPr>
              <a:t>временных</a:t>
            </a:r>
            <a:r>
              <a:rPr lang="en-US" sz="3600" b="1" dirty="0">
                <a:latin typeface="Open Sans"/>
                <a:ea typeface="Open Sans"/>
                <a:cs typeface="Open Sans"/>
              </a:rPr>
              <a:t> </a:t>
            </a:r>
            <a:r>
              <a:rPr lang="en-US" sz="3600" b="1" dirty="0" err="1">
                <a:latin typeface="Open Sans"/>
                <a:ea typeface="Open Sans"/>
                <a:cs typeface="Open Sans"/>
              </a:rPr>
              <a:t>рядов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0EB46FB-419C-4EFA-D3AB-F7D45D40CB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42874121"/>
                  </p:ext>
                </p:extLst>
              </p:nvPr>
            </p:nvGraphicFramePr>
            <p:xfrm>
              <a:off x="25570" y="1708107"/>
              <a:ext cx="12165881" cy="41171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3580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2024895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2030499">
                      <a:extLst>
                        <a:ext uri="{9D8B030D-6E8A-4147-A177-3AD203B41FA5}">
                          <a16:colId xmlns:a16="http://schemas.microsoft.com/office/drawing/2014/main" val="174589655"/>
                        </a:ext>
                      </a:extLst>
                    </a:gridCol>
                    <a:gridCol w="2952082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3154825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764385"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Модель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Формула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Лучше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всего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подавляет</a:t>
                          </a:r>
                          <a:endParaRPr lang="en-US" sz="1800" dirty="0" err="1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Плюсы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Минусы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694966">
                    <a:tc>
                      <a:txBody>
                        <a:bodyPr/>
                        <a:lstStyle/>
                        <a:p>
                          <a:pPr lvl="0" algn="l"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Скользящее среднее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Moving Average)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  <m:t>𝑘</m:t>
                                    </m:r>
                                  </m:den>
                                </m:f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· </m:t>
                                </m:r>
                                <m:r>
                                  <m:rPr>
                                    <m:sty m:val="p"/>
                                  </m:rPr>
                                  <a:rPr lang="el-GR" sz="1600" i="0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Σ</m:t>
                                </m:r>
                                <m:r>
                                  <a:rPr lang="el-GR" sz="16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𝑥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ᵢ </m:t>
                                </m:r>
                              </m:oMath>
                            </m:oMathPara>
                          </a14:m>
                          <a:endParaRPr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Случайный шум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без выбросов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Очень простая реализация; хороший базовый метод для сравнения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Даёт задержку; </a:t>
                          </a:r>
                          <a:r>
                            <a:rPr lang="ru-RU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чувствителен к </a:t>
                          </a: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выбросам; нужно выбрать окно </a:t>
                          </a:r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k </a:t>
                          </a:r>
                          <a:endParaRPr lang="az-Cyrl-AZ" sz="160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az-Cyrl-AZ" sz="16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1970687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Экспоненциальноесглаживание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EWMA)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ru-RU" sz="1400" b="0" i="1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=</m:t>
                                </m:r>
                                <m:r>
                                  <a:rPr lang="el-GR" sz="14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𝛼</m:t>
                                </m:r>
                                <m:r>
                                  <a:rPr lang="el-GR" sz="14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·</m:t>
                                </m:r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𝑥</m:t>
                                </m:r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ₜ(1−</m:t>
                                </m:r>
                                <m:r>
                                  <a:rPr lang="el-GR" sz="14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𝛼</m:t>
                                </m:r>
                                <m:r>
                                  <a:rPr lang="ru-RU" sz="1400" b="0" i="1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)</m:t>
                                </m:r>
                                <m:r>
                                  <a:rPr lang="el-GR" sz="1400" i="1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·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Случайный шум при меняющихся условиях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Быстрее реагирует, чем скользящее среднее; параметр </a:t>
                          </a:r>
                          <a:r>
                            <a:rPr lang="el-GR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α </a:t>
                          </a:r>
                          <a:r>
                            <a:rPr lang="ru-RU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задаёт компромисс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Требует выбора </a:t>
                          </a:r>
                          <a:r>
                            <a:rPr lang="el-GR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α; </a:t>
                          </a: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если </a:t>
                          </a:r>
                        </a:p>
                        <a:p>
                          <a:pPr lvl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маленькое то новое значение </a:t>
                          </a:r>
                        </a:p>
                        <a:p>
                          <a:pPr lvl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влияет слабо, а основную роль играет прошлое сглаженное; не лучший вариант против одиночных выбросов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0EB46FB-419C-4EFA-D3AB-F7D45D40CBF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42874121"/>
                  </p:ext>
                </p:extLst>
              </p:nvPr>
            </p:nvGraphicFramePr>
            <p:xfrm>
              <a:off x="25570" y="1708107"/>
              <a:ext cx="12165881" cy="411718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03580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2024895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2030499">
                      <a:extLst>
                        <a:ext uri="{9D8B030D-6E8A-4147-A177-3AD203B41FA5}">
                          <a16:colId xmlns:a16="http://schemas.microsoft.com/office/drawing/2014/main" val="174589655"/>
                        </a:ext>
                      </a:extLst>
                    </a:gridCol>
                    <a:gridCol w="2952082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3154825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764385"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Модель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Формула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Лучше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всего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подавляет</a:t>
                          </a:r>
                          <a:endParaRPr lang="en-US" sz="1800" dirty="0" err="1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Плюсы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Минусы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pPr lvl="0" algn="l"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Скользящее среднее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Moving Average)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99398" t="-60930" r="-403614" b="-1618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Случайный шум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без выбросов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Очень простая реализация; хороший базовый метод для сравнения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Даёт задержку; </a:t>
                          </a:r>
                          <a:r>
                            <a:rPr lang="ru-RU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чувствителен к </a:t>
                          </a: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выбросам; нужно выбрать окно </a:t>
                          </a:r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k </a:t>
                          </a:r>
                          <a:endParaRPr lang="az-Cyrl-AZ" sz="160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az-Cyrl-AZ" sz="16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2042160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Экспоненциальноесглаживание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EWMA) 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99398" t="-103284" r="-403614" b="-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Случайный шум при меняющихся условиях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Быстрее реагирует, чем скользящее среднее; параметр </a:t>
                          </a:r>
                          <a:r>
                            <a:rPr lang="el-GR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α </a:t>
                          </a:r>
                          <a:r>
                            <a:rPr lang="ru-RU" sz="160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задаёт компромисс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Требует выбора </a:t>
                          </a:r>
                          <a:r>
                            <a:rPr lang="el-GR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α; </a:t>
                          </a: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если </a:t>
                          </a:r>
                        </a:p>
                        <a:p>
                          <a:pPr lvl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маленькое то новое значение </a:t>
                          </a:r>
                        </a:p>
                        <a:p>
                          <a:pPr lvl="0" algn="l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ru-RU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влияет слабо, а основную роль играет прошлое сглаженное; не лучший вариант против одиночных выбросов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3D8FD0-17CE-5DAA-526D-81A1CC8E7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5</a:t>
            </a:fld>
            <a:endParaRPr lang="en-US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485255-994E-C052-6ADA-7784F7B66533}"/>
                  </a:ext>
                </a:extLst>
              </p:cNvPr>
              <p:cNvSpPr txBox="1"/>
              <p:nvPr/>
            </p:nvSpPr>
            <p:spPr>
              <a:xfrm>
                <a:off x="155276" y="5982811"/>
                <a:ext cx="887658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x</a:t>
                </a:r>
                <a:r>
                  <a:rPr lang="ru-RU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ₜ — измеряемая величина (например, </a:t>
                </a:r>
                <a:r>
                  <a:rPr lang="en-US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</a:t>
                </a:r>
                <a:r>
                  <a:rPr lang="ru-RU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ₜ или </a:t>
                </a:r>
                <a:r>
                  <a:rPr lang="en-US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R</a:t>
                </a:r>
                <a:r>
                  <a:rPr lang="ru-RU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ₜ),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dirty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ea typeface="Open Sans"/>
                                <a:cs typeface="Open Sans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ea typeface="Open Sans"/>
                                <a:cs typeface="Open Sans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  <a:ea typeface="Open Sans"/>
                                <a:cs typeface="Open Sans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— отфильтрованная оценка; </a:t>
                </a:r>
                <a:r>
                  <a:rPr lang="en-US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k</a:t>
                </a:r>
                <a:r>
                  <a:rPr lang="ru-RU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 — длина окна; </a:t>
                </a:r>
                <a:endParaRPr lang="en-US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</a:rPr>
                      <m:t>𝛼</m:t>
                    </m:r>
                  </m:oMath>
                </a14:m>
                <a:r>
                  <a:rPr lang="ru-RU" sz="1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— коэффициент сглаживания.</a:t>
                </a:r>
                <a:endParaRPr lang="en-US" sz="12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485255-994E-C052-6ADA-7784F7B66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76" y="5982811"/>
                <a:ext cx="8876581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35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1D4CFB-7EEE-EE8A-FCA9-940478C6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A158-9493-9D70-A9CA-8EF3A25E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4898571" cy="1336448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Open Sans"/>
                <a:ea typeface="Open Sans"/>
                <a:cs typeface="Open Sans"/>
              </a:rPr>
              <a:t>Методы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 </a:t>
            </a:r>
            <a:r>
              <a:rPr lang="en-US" sz="3200" b="1" dirty="0" err="1">
                <a:latin typeface="Open Sans"/>
                <a:ea typeface="Open Sans"/>
                <a:cs typeface="Open Sans"/>
              </a:rPr>
              <a:t>фильтрации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 </a:t>
            </a:r>
            <a:br>
              <a:rPr lang="en-US" sz="3200" b="1" dirty="0">
                <a:latin typeface="Open Sans"/>
                <a:ea typeface="Open Sans"/>
                <a:cs typeface="Open Sans"/>
              </a:rPr>
            </a:br>
            <a:r>
              <a:rPr lang="en-US" sz="3200" b="1" dirty="0" err="1">
                <a:latin typeface="Open Sans"/>
                <a:ea typeface="Open Sans"/>
                <a:cs typeface="Open Sans"/>
              </a:rPr>
              <a:t>временных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 </a:t>
            </a:r>
            <a:r>
              <a:rPr lang="en-US" sz="3200" b="1" dirty="0" err="1">
                <a:latin typeface="Open Sans"/>
                <a:ea typeface="Open Sans"/>
                <a:cs typeface="Open Sans"/>
              </a:rPr>
              <a:t>рядов</a:t>
            </a:r>
            <a:endParaRPr lang="en-US" dirty="0" err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F3D11DE-6712-B9D1-0EA1-B332204ACBE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26666017"/>
                  </p:ext>
                </p:extLst>
              </p:nvPr>
            </p:nvGraphicFramePr>
            <p:xfrm>
              <a:off x="4805" y="1563728"/>
              <a:ext cx="12187195" cy="42817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4517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2344613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2041158">
                      <a:extLst>
                        <a:ext uri="{9D8B030D-6E8A-4147-A177-3AD203B41FA5}">
                          <a16:colId xmlns:a16="http://schemas.microsoft.com/office/drawing/2014/main" val="174589655"/>
                        </a:ext>
                      </a:extLst>
                    </a:gridCol>
                    <a:gridCol w="2952082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3154825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638896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Модель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Формула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Лучше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всего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подавляет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Преимущества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Недостатки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1780530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Медианный фильтр</a:t>
                          </a:r>
                          <a:r>
                            <a:rPr lang="az-Cyrl-AZ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</a:t>
                          </a:r>
                          <a:br>
                            <a:rPr lang="az-Cyrl-AZ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a:br>
                          <a:r>
                            <a:rPr lang="az-Cyrl-AZ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Median) </a:t>
                          </a: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40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4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= </m:t>
                                </m:r>
                                <m:r>
                                  <a:rPr lang="en-US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𝑚𝑒𝑑𝑖𝑎𝑛</m:t>
                                </m:r>
                                <m:r>
                                  <a:rPr lang="en-US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(</m:t>
                                </m:r>
                                <m:r>
                                  <a:rPr lang="en-US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𝑥</m:t>
                                </m:r>
                                <m:r>
                                  <a:rPr lang="en-US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ₜ₋ₖ₊₁, …, </m:t>
                                </m:r>
                                <m:r>
                                  <a:rPr lang="en-US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𝑥</m:t>
                                </m:r>
                                <m:r>
                                  <a:rPr lang="en-US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ₜ) </m:t>
                                </m:r>
                              </m:oMath>
                            </m:oMathPara>
                          </a14:m>
                          <a:endParaRPr sz="14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Выбросы (редкие сильные ошибки)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Высокая устойчивость к выбросам; хорошо убирает одиночные ложные пики/провалы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Меньше пользы при чисто гауссовом шуме; возможна «ступенчатость»; нужно окно </a:t>
                          </a:r>
                          <a:r>
                            <a:rPr lang="en-US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k </a:t>
                          </a: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az-Cyrl-AZ" sz="16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1843372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Адаптивные фильтры</a:t>
                          </a: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</a:t>
                          </a:r>
                          <a:b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a:b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LMS/RLS </a:t>
                          </a: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и аналоги) </a:t>
                          </a:r>
                          <a:endParaRPr lang="ru-RU" sz="16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60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  <a:ea typeface="Open Sans"/>
                                            <a:cs typeface="Open Sans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6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= </m:t>
                                </m:r>
                                <m:r>
                                  <a:rPr lang="en-US" sz="16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𝑤</m:t>
                                </m:r>
                                <m:r>
                                  <a:rPr lang="en-US" sz="16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ₜᵀ</m:t>
                                </m:r>
                                <m:r>
                                  <a:rPr lang="en-US" sz="16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𝑢</m:t>
                                </m:r>
                                <m:r>
                                  <a:rPr lang="en-US" sz="16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ₜ, </m:t>
                                </m:r>
                              </m:oMath>
                            </m:oMathPara>
                          </a14:m>
                          <a:br>
                            <a:rPr lang="en-US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a:br>
                          <a:endParaRPr lang="az-Cyrl-AZ" sz="16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Нестационарный шум и динамические процессы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Подстраиваются под статистику сигнала; потенциально лучше фиксированных фильтров при «плавающих» условиях; возможен режим предсказания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Сложнее реализовать и настроить; риск нестабильности при неверных параметрах; сложнее обосновывать без отдельного анализа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6F3D11DE-6712-B9D1-0EA1-B332204ACBE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326666017"/>
                  </p:ext>
                </p:extLst>
              </p:nvPr>
            </p:nvGraphicFramePr>
            <p:xfrm>
              <a:off x="4805" y="1563728"/>
              <a:ext cx="12187195" cy="42817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4517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2344613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2041158">
                      <a:extLst>
                        <a:ext uri="{9D8B030D-6E8A-4147-A177-3AD203B41FA5}">
                          <a16:colId xmlns:a16="http://schemas.microsoft.com/office/drawing/2014/main" val="174589655"/>
                        </a:ext>
                      </a:extLst>
                    </a:gridCol>
                    <a:gridCol w="2952082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3154825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Модель</a:t>
                          </a:r>
                          <a:endParaRPr lang="en-US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Формула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Лучше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всего</a:t>
                          </a:r>
                          <a:r>
                            <a:rPr lang="en-US" sz="18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8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подавляет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Преимущества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Недостатки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1798320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Медианный фильтр</a:t>
                          </a:r>
                          <a:r>
                            <a:rPr lang="az-Cyrl-AZ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</a:t>
                          </a:r>
                          <a:br>
                            <a:rPr lang="az-Cyrl-AZ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a:br>
                          <a:r>
                            <a:rPr lang="az-Cyrl-AZ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Median) </a:t>
                          </a: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2468" t="-37288" r="-348571" b="-1047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az-Cyrl-AZ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Выбросы (редкие сильные ошибки)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Высокая устойчивость к выбросам; хорошо убирает одиночные ложные пики/провалы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Меньше пользы при чисто гауссовом шуме; возможна «ступенчатость»; нужно окно </a:t>
                          </a:r>
                          <a:r>
                            <a:rPr lang="en-US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k </a:t>
                          </a: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az-Cyrl-AZ" sz="16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1843372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Адаптивные фильтры</a:t>
                          </a: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</a:t>
                          </a:r>
                          <a:b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a:b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LMS/RLS </a:t>
                          </a:r>
                          <a:r>
                            <a:rPr lang="ru-RU" sz="1600" b="0" i="0" u="none" strike="noStrike" noProof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и аналоги) </a:t>
                          </a:r>
                          <a:endParaRPr lang="ru-RU" sz="16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72468" t="-133663" r="-348571" b="-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Нестационарный шум и динамические процессы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buNone/>
                          </a:pP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Подстраиваются под статистику сигнала; потенциально лучше фиксированных фильтров при «плавающих» условиях; возможен режим предсказания 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6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Сложнее реализовать и настроить; риск нестабильности при неверных параметрах; сложнее обосновывать без отдельного анализа</a:t>
                          </a:r>
                          <a:endParaRPr lang="en-US" sz="160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1D1F8B-CA46-3573-9E8E-EF4CF849AF17}"/>
                  </a:ext>
                </a:extLst>
              </p:cNvPr>
              <p:cNvSpPr txBox="1"/>
              <p:nvPr/>
            </p:nvSpPr>
            <p:spPr>
              <a:xfrm>
                <a:off x="-7511" y="6139057"/>
                <a:ext cx="8805288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x</a:t>
                </a:r>
                <a:r>
                  <a:rPr lang="ru-RU" sz="1200" dirty="0">
                    <a:latin typeface="Open Sans"/>
                    <a:ea typeface="Open Sans"/>
                    <a:cs typeface="Open Sans"/>
                  </a:rPr>
                  <a:t>ₜ — измеряемая величина (например, 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A</a:t>
                </a:r>
                <a:r>
                  <a:rPr lang="ru-RU" sz="1200" dirty="0">
                    <a:latin typeface="Open Sans"/>
                    <a:ea typeface="Open Sans"/>
                    <a:cs typeface="Open Sans"/>
                  </a:rPr>
                  <a:t>ₜ или 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R</a:t>
                </a:r>
                <a:r>
                  <a:rPr lang="ru-RU" sz="1200" dirty="0">
                    <a:latin typeface="Open Sans"/>
                    <a:ea typeface="Open Sans"/>
                    <a:cs typeface="Open Sans"/>
                  </a:rPr>
                  <a:t>ₜ), 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dirty="0">
                            <a:latin typeface="Cambria Math" panose="02040503050406030204" pitchFamily="18" charset="0"/>
                            <a:ea typeface="Open Sans"/>
                            <a:cs typeface="Open San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  <a:ea typeface="Open Sans"/>
                                <a:cs typeface="Open Sans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  <a:ea typeface="Open Sans"/>
                                <a:cs typeface="Open Sans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  <a:ea typeface="Open Sans"/>
                                <a:cs typeface="Open Sans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sz="1200" dirty="0">
                    <a:latin typeface="Open Sans"/>
                    <a:ea typeface="Open Sans"/>
                    <a:cs typeface="Open Sans"/>
                  </a:rPr>
                  <a:t>— отфильтрованная оценка; </a:t>
                </a:r>
                <a:r>
                  <a:rPr lang="en-US" sz="1200" dirty="0">
                    <a:latin typeface="Open Sans"/>
                    <a:ea typeface="Open Sans"/>
                    <a:cs typeface="Open Sans"/>
                  </a:rPr>
                  <a:t>k</a:t>
                </a:r>
                <a:r>
                  <a:rPr lang="ru-RU" sz="1200" dirty="0">
                    <a:latin typeface="Open Sans"/>
                    <a:ea typeface="Open Sans"/>
                    <a:cs typeface="Open Sans"/>
                  </a:rPr>
                  <a:t> — длина окна; </a:t>
                </a:r>
                <a:endParaRPr lang="en-US" sz="1200" dirty="0">
                  <a:latin typeface="Open Sans"/>
                  <a:ea typeface="Open Sans"/>
                  <a:cs typeface="Open Sans"/>
                </a:endParaRPr>
              </a:p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Open Sans"/>
                      </a:rPr>
                      <m:t>𝛼</m:t>
                    </m:r>
                  </m:oMath>
                </a14:m>
                <a:r>
                  <a:rPr lang="ru-RU" sz="1200" dirty="0">
                    <a:latin typeface="Open Sans"/>
                    <a:ea typeface="Open Sans"/>
                    <a:cs typeface="Open Sans"/>
                  </a:rPr>
                  <a:t>— коэффициент сглаживания.</a:t>
                </a:r>
                <a:endParaRPr lang="en-US" sz="1200" dirty="0">
                  <a:latin typeface="Open Sans"/>
                  <a:ea typeface="Open Sans"/>
                  <a:cs typeface="Open San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1D1F8B-CA46-3573-9E8E-EF4CF849A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11" y="6139057"/>
                <a:ext cx="8805288" cy="461665"/>
              </a:xfrm>
              <a:prstGeom prst="rect">
                <a:avLst/>
              </a:prstGeom>
              <a:blipFill>
                <a:blip r:embed="rId4"/>
                <a:stretch>
                  <a:fillRect l="-69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3B8D31-5B6B-CEF4-C7EC-941F24A2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6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65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2BE0F-407F-6864-4FB6-1C334DED1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9CD1-8B34-DF2C-DE84-803E7CE9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4898571" cy="1336448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Open Sans"/>
                <a:ea typeface="Open Sans"/>
                <a:cs typeface="Open Sans"/>
              </a:rPr>
              <a:t>Методы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 </a:t>
            </a:r>
            <a:r>
              <a:rPr lang="en-US" sz="3200" b="1" dirty="0" err="1">
                <a:latin typeface="Open Sans"/>
                <a:ea typeface="Open Sans"/>
                <a:cs typeface="Open Sans"/>
              </a:rPr>
              <a:t>фильтрации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 </a:t>
            </a:r>
            <a:br>
              <a:rPr lang="en-US" sz="3200" b="1" dirty="0">
                <a:latin typeface="Open Sans"/>
                <a:ea typeface="Open Sans"/>
                <a:cs typeface="Open Sans"/>
              </a:rPr>
            </a:br>
            <a:r>
              <a:rPr lang="en-US" sz="3200" b="1" dirty="0" err="1">
                <a:latin typeface="Open Sans"/>
                <a:ea typeface="Open Sans"/>
                <a:cs typeface="Open Sans"/>
              </a:rPr>
              <a:t>временных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 </a:t>
            </a:r>
            <a:r>
              <a:rPr lang="en-US" sz="3200" b="1" dirty="0" err="1">
                <a:latin typeface="Open Sans"/>
                <a:ea typeface="Open Sans"/>
                <a:cs typeface="Open Sans"/>
              </a:rPr>
              <a:t>рядов</a:t>
            </a:r>
            <a:endParaRPr lang="en-US" dirty="0" err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664378-EE6A-68EE-A8C2-1E9460C37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54" y="2674835"/>
            <a:ext cx="11855491" cy="19372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Методы с фиксированным окном наблюдений в нашей задаче менее удобны, поскольку требуют выбора длины окна, хранения нескольких последних измерений и вносят дополнительную задержку в реакцию фильтра. Для порогового детектирования серии импульсов это нежелательно, так как решение должно обновляться онлайн и достаточно быстро отражать изменения сигнала. Поэтому вместо оконного усреднения выбран рекурсивный фильтр EWMA, который не требует хранения окна и обеспечивает более удобный компромисс между подавлением шума и скоростью реакции.</a:t>
            </a:r>
            <a:endParaRPr lang="en-US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19E44E1-2956-162E-6246-B25B3D3E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7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98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2A656-17F0-B576-C552-B1C60CDB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EEB1-33EC-6A8E-D139-A33604537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4898571" cy="1336448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Open Sans"/>
                <a:ea typeface="Open Sans"/>
                <a:cs typeface="Open Sans"/>
              </a:rPr>
              <a:t>Подходы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 к </a:t>
            </a:r>
            <a:r>
              <a:rPr lang="en-US" sz="3200" b="1" dirty="0" err="1">
                <a:latin typeface="Open Sans"/>
                <a:ea typeface="Open Sans"/>
                <a:cs typeface="Open Sans"/>
              </a:rPr>
              <a:t>построению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 </a:t>
            </a:r>
            <a:r>
              <a:rPr lang="en-US" sz="3200" b="1" dirty="0" err="1">
                <a:latin typeface="Open Sans"/>
                <a:ea typeface="Open Sans"/>
                <a:cs typeface="Open Sans"/>
              </a:rPr>
              <a:t>моде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лей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0F9B68E-D393-812C-679C-DE60DFF7AB2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95068476"/>
                  </p:ext>
                </p:extLst>
              </p:nvPr>
            </p:nvGraphicFramePr>
            <p:xfrm>
              <a:off x="12032" y="1580169"/>
              <a:ext cx="12179968" cy="5277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4625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6124754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1825623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2524966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352027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Название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Суть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Преимущества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Недостатки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1664127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1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Аналитическая модель Рытова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1400" i="1" u="none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ar-AE" sz="1400" i="1" u="none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 i="1" u="none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ar-AE" sz="1400" b="0" i="1" u="none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sub>
                                    <m:r>
                                      <a:rPr lang="ar-AE" sz="1400" b="0" i="1" u="none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  <m:t>𝑅𝑦𝑡𝑜𝑣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sz="140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400" i="1" u="none" dirty="0" smtClean="0">
                                        <a:latin typeface="Cambria Math" panose="02040503050406030204" pitchFamily="18" charset="0"/>
                                        <a:ea typeface="Open Sans"/>
                                        <a:cs typeface="Open Sans"/>
                                      </a:rPr>
                                      <m:t>𝐿</m:t>
                                    </m:r>
                                  </m:e>
                                </m:d>
                                <m:r>
                                  <a:rPr lang="ar-AE" sz="1400" i="1" u="none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= </m:t>
                                </m:r>
                                <m:r>
                                  <a:rPr lang="ar-AE" sz="1400" i="1" u="none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1</m:t>
                                </m:r>
                                <m:r>
                                  <a:rPr lang="ar-AE" sz="1400" i="1" u="none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.</m:t>
                                </m:r>
                                <m:r>
                                  <a:rPr lang="ar-AE" sz="1400" i="1" u="none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23</m:t>
                                </m:r>
                                <m:r>
                                  <a:rPr lang="ar-AE" sz="1400" i="1" u="none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∙</m:t>
                                </m:r>
                                <m:sSubSup>
                                  <m:sSubSupPr>
                                    <m:ctrlP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ar-AE" sz="1400" b="0" i="1" u="none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  <m:t>𝑘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ar-AE" sz="1400" b="0" i="1" u="none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ar-AE" sz="1400" b="0" i="1" u="none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  <m:t>7</m:t>
                                        </m:r>
                                      </m:num>
                                      <m:den>
                                        <m:r>
                                          <a:rPr lang="ar-AE" sz="1400" b="0" i="1" u="none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sup>
                                </m:sSup>
                                <m:r>
                                  <a:rPr lang="ar-AE" sz="1400" b="0" i="1" u="none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Open Sans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sz="1400" b="0" i="1" u="none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Open Sans"/>
                                      </a:rPr>
                                      <m:t>𝐿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ar-AE" sz="1400" b="0" i="1" u="none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ar-AE" sz="1400" b="0" i="1" u="none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  <m:t>11</m:t>
                                        </m:r>
                                      </m:num>
                                      <m:den>
                                        <m:r>
                                          <a:rPr lang="ar-AE" sz="1400" b="0" i="1" u="none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Open Sans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sup>
                                </m:sSup>
                              </m:oMath>
                            </m:oMathPara>
                          </a14:m>
                          <a:endParaRPr lang="en-US" sz="1400" b="0" i="1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Описание</m:t>
                                </m:r>
                                <m:r>
                                  <a:rPr lang="ru-RU" sz="1400" b="0" i="1" u="none" strike="noStrike" noProof="0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</m:t>
                                </m:r>
                                <m:r>
                                  <a:rPr lang="ru-RU" sz="1400" b="0" i="1" u="none" strike="noStrike" noProof="0" dirty="0" err="1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статистических</m:t>
                                </m:r>
                                <m:r>
                                  <a:rPr lang="ru-RU" sz="1400" b="0" i="1" u="none" strike="noStrike" noProof="0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</m:t>
                                </m:r>
                                <m:r>
                                  <a:rPr lang="ru-RU" sz="1400" b="0" i="1" u="none" strike="noStrike" noProof="0" dirty="0" err="1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флуктуаций</m:t>
                                </m:r>
                                <m:r>
                                  <a:rPr lang="ru-RU" sz="1400" b="0" i="1" u="none" strike="noStrike" noProof="0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</m:t>
                                </m:r>
                                <m:r>
                                  <a:rPr lang="ru-RU" sz="1400" b="0" i="1" u="none" strike="noStrike" noProof="0" dirty="0" err="1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луча</m:t>
                                </m:r>
                                <m:r>
                                  <a:rPr lang="ru-RU" sz="1400" b="0" i="1" u="none" strike="noStrike" noProof="0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в </m:t>
                                </m:r>
                                <m:r>
                                  <a:rPr lang="ru-RU" sz="1400" b="0" i="1" u="none" strike="noStrike" noProof="0" dirty="0" err="1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турбулентной</m:t>
                                </m:r>
                                <m:r>
                                  <a:rPr lang="ru-RU" sz="1400" b="0" i="1" u="none" strike="noStrike" noProof="0" dirty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</m:t>
                                </m:r>
                                <m:r>
                                  <a:rPr lang="ru-RU" sz="1400" b="0" i="1" u="none" strike="noStrike" noProof="0" dirty="0" err="1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атмосфере</m:t>
                                </m:r>
                                <m:r>
                                  <a:rPr lang="ru-RU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ru-RU" sz="1400" b="0" i="1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ru-RU" sz="1400" b="0" i="1" u="none" strike="noStrike" noProof="0" dirty="0" smtClean="0">
                                  <a:latin typeface="Cambria Math" panose="02040503050406030204" pitchFamily="18" charset="0"/>
                                  <a:ea typeface="Open Sans"/>
                                  <a:cs typeface="Open Sans"/>
                                </a:rPr>
                                <m:t> </m:t>
                              </m:r>
                            </m:oMath>
                          </a14:m>
                          <a:r>
                            <a:rPr lang="ru-RU" sz="1400" i="0" u="none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где</a:t>
                          </a:r>
                          <a:r>
                            <a:rPr lang="ru-RU" sz="1400" i="0" u="none" baseline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40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ar-AE" sz="140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Open San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40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Open Sans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ar-AE" sz="1400" b="0" i="1" u="none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Open Sans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ar-AE" sz="1400" b="0" i="1" u="none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</a:rPr>
                                    <m:t>𝑅𝑦𝑡𝑜𝑣</m:t>
                                  </m:r>
                                </m:sub>
                              </m:sSub>
                              <m:r>
                                <a:rPr lang="ar-AE" sz="1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/>
                                </a:rPr>
                                <m:t> −</m:t>
                              </m:r>
                              <m:r>
                                <a:rPr lang="ru-RU" sz="1400" b="0" i="1" u="none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/>
                                </a:rPr>
                                <m:t>вариация Рытова, </m:t>
                              </m:r>
                              <m:sSubSup>
                                <m:sSubSupPr>
                                  <m:ctrlPr>
                                    <a:rPr lang="ar-AE" sz="1400" b="0" i="1" u="none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</a:rPr>
                                  </m:ctrlPr>
                                </m:sSubSupPr>
                                <m:e>
                                  <m:r>
                                    <a:rPr lang="ar-AE" sz="1400" b="0" i="1" u="none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ar-AE" sz="1400" b="0" i="1" u="none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ar-AE" sz="1400" b="0" i="1" u="none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ar-AE" sz="1400" b="0" i="1" u="none" strike="noStrike" noProof="0" dirty="0" smtClean="0">
                                  <a:latin typeface="Cambria Math" panose="02040503050406030204" pitchFamily="18" charset="0"/>
                                  <a:ea typeface="Open Sans"/>
                                  <a:cs typeface="Open Sans"/>
                                </a:rPr>
                                <m:t>− </m:t>
                              </m:r>
                              <m:r>
                                <a:rPr lang="ru-RU" sz="1400" b="0" i="1" u="none" strike="noStrike" noProof="0" dirty="0" err="1">
                                  <a:latin typeface="Cambria Math" panose="02040503050406030204" pitchFamily="18" charset="0"/>
                                  <a:ea typeface="Open Sans"/>
                                  <a:cs typeface="Open Sans"/>
                                </a:rPr>
                                <m:t>константа</m:t>
                              </m:r>
                              <m:r>
                                <a:rPr lang="ru-RU" sz="1400" b="0" i="1" u="none" strike="noStrike" noProof="0" dirty="0">
                                  <a:latin typeface="Cambria Math" panose="02040503050406030204" pitchFamily="18" charset="0"/>
                                  <a:ea typeface="Open Sans"/>
                                  <a:cs typeface="Open Sans"/>
                                </a:rPr>
                                <m:t> </m:t>
                              </m:r>
                              <m:r>
                                <a:rPr lang="ru-RU" sz="1400" b="0" i="1" u="none" strike="noStrike" noProof="0" dirty="0" err="1">
                                  <a:latin typeface="Cambria Math" panose="02040503050406030204" pitchFamily="18" charset="0"/>
                                  <a:ea typeface="Open Sans"/>
                                  <a:cs typeface="Open Sans"/>
                                </a:rPr>
                                <m:t>турбулентности</m:t>
                              </m:r>
                              <m:r>
                                <a:rPr lang="ru-RU" sz="1400" b="0" i="1" u="none" strike="noStrike" noProof="0" dirty="0">
                                  <a:latin typeface="Cambria Math" panose="02040503050406030204" pitchFamily="18" charset="0"/>
                                  <a:ea typeface="Open Sans"/>
                                  <a:cs typeface="Open Sans"/>
                                </a:rPr>
                                <m:t>,</m:t>
                              </m:r>
                            </m:oMath>
                          </a14:m>
                          <a:endParaRPr lang="ru-RU" sz="1400" b="0" i="1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𝑘</m:t>
                                </m:r>
                                <m:r>
                                  <a:rPr lang="ru-RU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− волновое чис</m:t>
                                </m:r>
                                <m:r>
                                  <a:rPr lang="ru-RU" sz="1400" b="0" i="1" u="none" strike="noStrike" noProof="0" dirty="0" err="1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ло, </m:t>
                                </m:r>
                                <m:r>
                                  <a:rPr lang="ru-RU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𝐿</m:t>
                                </m:r>
                                <m:r>
                                  <a:rPr lang="ru-RU" sz="1400" b="0" i="1" u="none" strike="noStrike" noProof="0" dirty="0" smtClean="0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 − длина распро</m:t>
                                </m:r>
                                <m:r>
                                  <a:rPr lang="ru-RU" sz="1400" b="0" i="1" u="none" strike="noStrike" noProof="0" dirty="0" err="1">
                                    <a:latin typeface="Cambria Math" panose="02040503050406030204" pitchFamily="18" charset="0"/>
                                    <a:ea typeface="Open Sans"/>
                                    <a:cs typeface="Open Sans"/>
                                  </a:rPr>
                                  <m:t>странения  </m:t>
                                </m:r>
                              </m:oMath>
                            </m:oMathPara>
                          </a14:m>
                          <a:endParaRPr lang="ru-RU" sz="1400" b="0" i="1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Быстро, подходит для слабой турбулентности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Работает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только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при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слабой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турбулентности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,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дает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только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среднее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значение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,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даёт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вероятность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попадания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3261677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Волновые методы (параболическое уравнение)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дают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точное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физическое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описание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распространения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волны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с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учётом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фазовых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и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дифракционных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эффектов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.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Где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k –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волновое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число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, U(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x,y,z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) -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комплексная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амплитуда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волны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в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точке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с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координатами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</a:t>
                          </a: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x,y,z</a:t>
                          </a: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)</a:t>
                          </a:r>
                        </a:p>
                        <a:p>
                          <a:pPr marL="0" lvl="0" indent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Tx/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                           -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лапласиан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координатам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x и у, </a:t>
                          </a: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                                                       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- </a:t>
                          </a: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marL="285750" lvl="0" indent="-28575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Tx/>
                            <a:buChar char="-"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marL="0" lvl="0" indent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Tx/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                                                    -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отклонение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квадрата</a:t>
                          </a: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показателя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преломления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базового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значения</a:t>
                          </a:r>
                          <a:b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a:br>
                          <a:endParaRPr lang="az-Cyrl-AZ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Подстраиваются под статистику сигнала; потенциально лучше фиксированных фильтров при «плавающих» условиях; возможен режим предсказания 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Сложнее реализовать и настроить; риск нестабильности при неверных параметрах; сложнее обосновывать без отдельного анализа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0F9B68E-D393-812C-679C-DE60DFF7AB2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95068476"/>
                  </p:ext>
                </p:extLst>
              </p:nvPr>
            </p:nvGraphicFramePr>
            <p:xfrm>
              <a:off x="12032" y="1580169"/>
              <a:ext cx="12179968" cy="527783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4625">
                      <a:extLst>
                        <a:ext uri="{9D8B030D-6E8A-4147-A177-3AD203B41FA5}">
                          <a16:colId xmlns:a16="http://schemas.microsoft.com/office/drawing/2014/main" val="3964877025"/>
                        </a:ext>
                      </a:extLst>
                    </a:gridCol>
                    <a:gridCol w="6124754">
                      <a:extLst>
                        <a:ext uri="{9D8B030D-6E8A-4147-A177-3AD203B41FA5}">
                          <a16:colId xmlns:a16="http://schemas.microsoft.com/office/drawing/2014/main" val="1089309951"/>
                        </a:ext>
                      </a:extLst>
                    </a:gridCol>
                    <a:gridCol w="1825623">
                      <a:extLst>
                        <a:ext uri="{9D8B030D-6E8A-4147-A177-3AD203B41FA5}">
                          <a16:colId xmlns:a16="http://schemas.microsoft.com/office/drawing/2014/main" val="613197532"/>
                        </a:ext>
                      </a:extLst>
                    </a:gridCol>
                    <a:gridCol w="2524966">
                      <a:extLst>
                        <a:ext uri="{9D8B030D-6E8A-4147-A177-3AD203B41FA5}">
                          <a16:colId xmlns:a16="http://schemas.microsoft.com/office/drawing/2014/main" val="736359172"/>
                        </a:ext>
                      </a:extLst>
                    </a:gridCol>
                  </a:tblGrid>
                  <a:tr h="352027">
                    <a:tc>
                      <a:txBody>
                        <a:bodyPr/>
                        <a:lstStyle/>
                        <a:p>
                          <a:r>
                            <a:rPr lang="ru-RU" sz="1600" b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Название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Суть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Преимущества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Недостатки</a:t>
                          </a:r>
                        </a:p>
                      </a:txBody>
                      <a:tcPr>
                        <a:solidFill>
                          <a:srgbClr val="9F2D2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4426917"/>
                      </a:ext>
                    </a:extLst>
                  </a:tr>
                  <a:tr h="1664127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1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Аналитическая модель Рытова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7960" t="-22344" r="-71542" b="-1970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Быстро, подходит для слабой турбулентности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Работает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только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при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слабой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турбулентности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,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дает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только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среднее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значение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,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не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даёт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вероятность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попадания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639664"/>
                      </a:ext>
                    </a:extLst>
                  </a:tr>
                  <a:tr h="3261677"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Волновые методы (параболическое уравнение)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дают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точное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физическое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описание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распространения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волны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с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учётом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фазовых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и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дифракционных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эффектов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.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Где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k –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волновое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число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, U(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x,y,z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) -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комплексная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амплитуда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волны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в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точке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с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координатами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</a:t>
                          </a: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(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x,y,z</a:t>
                          </a: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)</a:t>
                          </a:r>
                        </a:p>
                        <a:p>
                          <a:pPr marL="0" lvl="0" indent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Tx/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                           -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лапласиан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координатам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 x и у, </a:t>
                          </a: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                                                       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- </a:t>
                          </a: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marL="285750" lvl="0" indent="-28575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Tx/>
                            <a:buChar char="-"/>
                          </a:pP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marL="0" lvl="0" indent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Tx/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                                                    -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отклонение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квадрата</a:t>
                          </a:r>
                          <a:endParaRPr lang="ru-RU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показателя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преломления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от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базового</a:t>
                          </a:r>
                          <a: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 </a:t>
                          </a:r>
                          <a:r>
                            <a:rPr lang="en-US" sz="1400" b="0" i="0" u="none" strike="noStrike" noProof="0" dirty="0" err="1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значения</a:t>
                          </a:r>
                          <a:br>
                            <a:rPr lang="en-US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a:br>
                          <a:endParaRPr lang="az-Cyrl-AZ" sz="1400" b="0" i="0" u="none" strike="noStrike" noProof="0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Подстраиваются под статистику сигнала; потенциально лучше фиксированных фильтров при «плавающих» условиях; возможен режим предсказания 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ru-RU" sz="1400" b="0" i="0" u="none" strike="noStrike" noProof="0" dirty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Сложнее реализовать и настроить; риск нестабильности при неверных параметрах; сложнее обосновывать без отдельного анализа</a:t>
                          </a:r>
                          <a:endParaRPr lang="en-US" sz="1400" u="none" dirty="0"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>
                        <a:solidFill>
                          <a:srgbClr val="F6F5F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81101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DDBDDD-0CC5-4338-EAFA-B82B6DE66B9A}"/>
              </a:ext>
            </a:extLst>
          </p:cNvPr>
          <p:cNvSpPr txBox="1"/>
          <p:nvPr/>
        </p:nvSpPr>
        <p:spPr>
          <a:xfrm>
            <a:off x="5637362" y="298042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0171D0-1EFF-D6F7-DE33-DE5C126E9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655" y="4177472"/>
            <a:ext cx="4106367" cy="4609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D7F67C-6C80-4B30-47F1-036879B541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655" y="5100162"/>
            <a:ext cx="1195640" cy="49175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2F27C1F-0E88-DBD8-C734-A25D3DED39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14" b="20703"/>
          <a:stretch>
            <a:fillRect/>
          </a:stretch>
        </p:blipFill>
        <p:spPr>
          <a:xfrm>
            <a:off x="1746655" y="5639258"/>
            <a:ext cx="2476821" cy="29605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5D8671-B03A-8D44-A122-799AB915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fld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01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3D7AA-6B46-0300-1D29-16FAA8BC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BA47D-D268-939C-F1D5-88AD79055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4898571" cy="1336448"/>
          </a:xfrm>
        </p:spPr>
        <p:txBody>
          <a:bodyPr>
            <a:normAutofit/>
          </a:bodyPr>
          <a:lstStyle/>
          <a:p>
            <a:r>
              <a:rPr lang="en-US" sz="3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Подходы</a:t>
            </a: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к </a:t>
            </a:r>
            <a:r>
              <a:rPr lang="en-US" sz="3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построению</a:t>
            </a: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320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моде</a:t>
            </a: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лей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80C2E7-971D-6DE4-CAAF-CDFD5E4069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841975"/>
              </p:ext>
            </p:extLst>
          </p:nvPr>
        </p:nvGraphicFramePr>
        <p:xfrm>
          <a:off x="215" y="1708106"/>
          <a:ext cx="12191785" cy="5149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578">
                  <a:extLst>
                    <a:ext uri="{9D8B030D-6E8A-4147-A177-3AD203B41FA5}">
                      <a16:colId xmlns:a16="http://schemas.microsoft.com/office/drawing/2014/main" val="3964877025"/>
                    </a:ext>
                  </a:extLst>
                </a:gridCol>
                <a:gridCol w="6487638">
                  <a:extLst>
                    <a:ext uri="{9D8B030D-6E8A-4147-A177-3AD203B41FA5}">
                      <a16:colId xmlns:a16="http://schemas.microsoft.com/office/drawing/2014/main" val="1089309951"/>
                    </a:ext>
                  </a:extLst>
                </a:gridCol>
                <a:gridCol w="2199170">
                  <a:extLst>
                    <a:ext uri="{9D8B030D-6E8A-4147-A177-3AD203B41FA5}">
                      <a16:colId xmlns:a16="http://schemas.microsoft.com/office/drawing/2014/main" val="613197532"/>
                    </a:ext>
                  </a:extLst>
                </a:gridCol>
                <a:gridCol w="2167399">
                  <a:extLst>
                    <a:ext uri="{9D8B030D-6E8A-4147-A177-3AD203B41FA5}">
                      <a16:colId xmlns:a16="http://schemas.microsoft.com/office/drawing/2014/main" val="736359172"/>
                    </a:ext>
                  </a:extLst>
                </a:gridCol>
              </a:tblGrid>
              <a:tr h="34106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Подход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Open Sans"/>
                          <a:ea typeface="Open Sans"/>
                          <a:cs typeface="Open Sans"/>
                        </a:rPr>
                        <a:t>Суть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Преимущества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Open Sans"/>
                          <a:ea typeface="Open Sans"/>
                          <a:cs typeface="Open Sans"/>
                        </a:rPr>
                        <a:t>Недостатки</a:t>
                      </a:r>
                    </a:p>
                  </a:txBody>
                  <a:tcPr>
                    <a:solidFill>
                      <a:srgbClr val="9F2D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426917"/>
                  </a:ext>
                </a:extLst>
              </a:tr>
              <a:tr h="480882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Монте-Карло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1" i="0" u="sng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sng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Моделирует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множество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реализаций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турбулентной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среды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,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генерирует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случайные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флуктуации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показателя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преломления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,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собирает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статистику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уравнение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трассировки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луча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под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влиянием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флуктуаций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r(z) —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координата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луча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в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плоскости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поперёк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направления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распространения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;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θ(z) —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угол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направления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,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n(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x,y,z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) —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показатель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преломления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со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случайными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флуктуациями</a:t>
                      </a: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                           M —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число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независимых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реализаций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                           X-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среднее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значение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 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-              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разброс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средних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результатов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Монте‑Карло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вокруг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истинного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математического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ожидания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Учитывает неоднородность среды, дает вероятность попадания, применим при многократных запусках, можно контролировать точность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sng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400" b="0" i="0" u="sng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u="sng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u="sng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buNone/>
                      </a:pPr>
                      <a:endParaRPr lang="en-US" sz="1400" u="sng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Требует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 </a:t>
                      </a:r>
                      <a:r>
                        <a:rPr lang="en-US" sz="1400" b="0" i="0" u="none" strike="noStrike" noProof="0" dirty="0" err="1">
                          <a:latin typeface="Open Sans"/>
                          <a:ea typeface="Open Sans"/>
                          <a:cs typeface="Open Sans"/>
                        </a:rPr>
                        <a:t>вычислений</a:t>
                      </a:r>
                      <a:r>
                        <a:rPr lang="en-US" sz="1400" b="0" i="0" u="none" strike="noStrike" noProof="0" dirty="0">
                          <a:latin typeface="Open Sans"/>
                          <a:ea typeface="Open Sans"/>
                          <a:cs typeface="Open Sans"/>
                        </a:rPr>
                        <a:t> </a:t>
                      </a:r>
                      <a:endParaRPr lang="en-US" sz="140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sng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sng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u="sng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az-Cyrl-AZ" sz="1400" b="0" i="0" u="sng" strike="noStrike" noProof="0" dirty="0">
                        <a:latin typeface="Open Sans"/>
                        <a:ea typeface="Open Sans"/>
                        <a:cs typeface="Open Sans"/>
                      </a:endParaRPr>
                    </a:p>
                    <a:p>
                      <a:pPr lvl="0" algn="l">
                        <a:buNone/>
                      </a:pPr>
                      <a:endParaRPr lang="en-US" sz="1400" u="sng" dirty="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6396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A28C86-F8C5-2AE3-DE01-948E318790E3}"/>
              </a:ext>
            </a:extLst>
          </p:cNvPr>
          <p:cNvSpPr txBox="1"/>
          <p:nvPr/>
        </p:nvSpPr>
        <p:spPr>
          <a:xfrm>
            <a:off x="56373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F58E8E2-75FC-E9EB-4F5A-393C21268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04" y="4946237"/>
            <a:ext cx="3013624" cy="53960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B5D8C1-46C1-1DC7-3483-04BA60410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04" y="2832069"/>
            <a:ext cx="1930499" cy="11938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7B631FE-69EE-180E-6C45-C2144E8E8C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904" y="6237062"/>
            <a:ext cx="653789" cy="33816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67E5B53-B678-69F0-969C-092CA65F55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6" r="59377"/>
          <a:stretch>
            <a:fillRect/>
          </a:stretch>
        </p:blipFill>
        <p:spPr>
          <a:xfrm>
            <a:off x="1377904" y="5520758"/>
            <a:ext cx="1181508" cy="673451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21779B-F4FA-5D9F-4FF7-5A019F3D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fld>
            <a:endParaRPr lang="en-US" sz="20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16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7E020-DABC-0677-9C87-591E42E9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8F54-F2A7-9DC5-9DBB-90E36EBF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229" y="376011"/>
            <a:ext cx="5218291" cy="1341776"/>
          </a:xfrm>
        </p:spPr>
        <p:txBody>
          <a:bodyPr>
            <a:noAutofit/>
          </a:bodyPr>
          <a:lstStyle/>
          <a:p>
            <a:r>
              <a:rPr lang="en-US" sz="3200" b="1" dirty="0" err="1">
                <a:latin typeface="Open Sans"/>
                <a:ea typeface="Open Sans"/>
                <a:cs typeface="Open Sans"/>
              </a:rPr>
              <a:t>Подходы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 к </a:t>
            </a:r>
            <a:br>
              <a:rPr lang="en-US" dirty="0"/>
            </a:br>
            <a:r>
              <a:rPr lang="en-US" sz="3200" b="1" dirty="0" err="1">
                <a:latin typeface="Open Sans"/>
                <a:ea typeface="Open Sans"/>
                <a:cs typeface="Open Sans"/>
              </a:rPr>
              <a:t>построению</a:t>
            </a:r>
            <a:r>
              <a:rPr lang="en-US" sz="3200" b="1" dirty="0">
                <a:latin typeface="Open Sans"/>
                <a:ea typeface="Open Sans"/>
                <a:cs typeface="Open Sans"/>
              </a:rPr>
              <a:t> </a:t>
            </a:r>
            <a:r>
              <a:rPr lang="en-US" sz="3200" b="1" dirty="0" err="1">
                <a:latin typeface="Open Sans"/>
                <a:ea typeface="Open Sans"/>
                <a:cs typeface="Open Sans"/>
              </a:rPr>
              <a:t>моделей</a:t>
            </a:r>
            <a:endParaRPr lang="en-US" sz="3200" dirty="0" err="1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ACD4D8-C19E-C797-9480-9A1A8A5C4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081" y="2390107"/>
            <a:ext cx="11005837" cy="20819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800" dirty="0">
                <a:latin typeface="Open Sans"/>
                <a:ea typeface="Open Sans"/>
                <a:cs typeface="Open Sans"/>
              </a:rPr>
              <a:t>Был выбран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метод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b="1" dirty="0" err="1">
                <a:latin typeface="Open Sans"/>
                <a:ea typeface="Open Sans"/>
                <a:cs typeface="Open Sans"/>
              </a:rPr>
              <a:t>Монте‑Карло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потому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что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он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позволяет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моделировать случайные</a:t>
            </a:r>
            <a:endParaRPr lang="en-US" sz="1800" dirty="0">
              <a:latin typeface="Aptos" panose="020B0004020202020204"/>
              <a:ea typeface="Open Sans"/>
              <a:cs typeface="Open Sans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 err="1">
                <a:latin typeface="Open Sans"/>
                <a:ea typeface="Open Sans"/>
                <a:cs typeface="Open Sans"/>
              </a:rPr>
              <a:t>флуктуации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атмосферы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сразу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получать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вероятность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попадания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на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цель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</a:t>
            </a:r>
            <a:endParaRPr lang="en-US" sz="1800" dirty="0">
              <a:latin typeface="Aptos" panose="020B0004020202020204"/>
              <a:ea typeface="Open Sans"/>
              <a:cs typeface="Open Sans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Open Sans"/>
                <a:ea typeface="Open Sans"/>
                <a:cs typeface="Open Sans"/>
              </a:rPr>
              <a:t>а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не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только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средние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значения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.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Он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достаточно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управляемый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числу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симуляций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при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этом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не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endParaRPr lang="en-US" sz="1800" dirty="0">
              <a:latin typeface="Aptos" panose="020B0004020202020204"/>
              <a:ea typeface="Open Sans"/>
              <a:cs typeface="Open Sans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 err="1">
                <a:latin typeface="Open Sans"/>
                <a:ea typeface="Open Sans"/>
                <a:cs typeface="Open Sans"/>
              </a:rPr>
              <a:t>требует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сложных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волновых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расчётов</a:t>
            </a:r>
            <a:r>
              <a:rPr lang="en-US" sz="1800" dirty="0">
                <a:latin typeface="Open Sans"/>
                <a:ea typeface="Open Sans"/>
                <a:cs typeface="Open Sans"/>
              </a:rPr>
              <a:t>.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Другие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методы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либо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дают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только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средние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,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либо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слишком</a:t>
            </a:r>
            <a:endParaRPr lang="en-US" sz="1800" dirty="0" err="1">
              <a:latin typeface="Aptos" panose="020B0004020202020204"/>
              <a:ea typeface="Open Sans"/>
              <a:cs typeface="Open Sans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 err="1">
                <a:latin typeface="Open Sans"/>
                <a:ea typeface="Open Sans"/>
                <a:cs typeface="Open Sans"/>
              </a:rPr>
              <a:t>тяжёлые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для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практических</a:t>
            </a:r>
            <a:r>
              <a:rPr lang="en-US" sz="1800" dirty="0">
                <a:latin typeface="Open Sans"/>
                <a:ea typeface="Open Sans"/>
                <a:cs typeface="Open Sans"/>
              </a:rPr>
              <a:t> </a:t>
            </a:r>
            <a:r>
              <a:rPr lang="en-US" sz="1800" dirty="0" err="1">
                <a:latin typeface="Open Sans"/>
                <a:ea typeface="Open Sans"/>
                <a:cs typeface="Open Sans"/>
              </a:rPr>
              <a:t>расчётов</a:t>
            </a:r>
            <a:r>
              <a:rPr lang="en-US" sz="1800" dirty="0">
                <a:latin typeface="Open Sans"/>
                <a:ea typeface="Open Sans"/>
                <a:cs typeface="Open Sans"/>
              </a:rPr>
              <a:t>. </a:t>
            </a:r>
            <a:endParaRPr lang="en-US" sz="18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6901887-773F-0F7E-4CF0-5F7D381F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10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2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78151-C41C-8707-281C-BFE9C8C3B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DFFA1-5180-CB2D-D196-F472EFAB2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9081" y="3024576"/>
            <a:ext cx="6433838" cy="8131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4400" dirty="0" err="1">
                <a:latin typeface="Open Sans"/>
                <a:ea typeface="Open Sans"/>
                <a:cs typeface="Open Sans"/>
              </a:rPr>
              <a:t>Спасибо</a:t>
            </a:r>
            <a:r>
              <a:rPr lang="en-US" sz="4400" dirty="0">
                <a:latin typeface="Open Sans"/>
                <a:ea typeface="Open Sans"/>
                <a:cs typeface="Open Sans"/>
              </a:rPr>
              <a:t> </a:t>
            </a:r>
            <a:r>
              <a:rPr lang="en-US" sz="4400" dirty="0" err="1">
                <a:latin typeface="Open Sans"/>
                <a:ea typeface="Open Sans"/>
                <a:cs typeface="Open Sans"/>
              </a:rPr>
              <a:t>за</a:t>
            </a:r>
            <a:r>
              <a:rPr lang="en-US" sz="4400" dirty="0">
                <a:latin typeface="Open Sans"/>
                <a:ea typeface="Open Sans"/>
                <a:cs typeface="Open Sans"/>
              </a:rPr>
              <a:t> </a:t>
            </a:r>
            <a:r>
              <a:rPr lang="en-US" sz="4400" dirty="0" err="1">
                <a:latin typeface="Open Sans"/>
                <a:ea typeface="Open Sans"/>
                <a:cs typeface="Open Sans"/>
              </a:rPr>
              <a:t>внимание</a:t>
            </a:r>
            <a:r>
              <a:rPr lang="en-US" sz="4400" dirty="0">
                <a:latin typeface="Open Sans"/>
                <a:ea typeface="Open Sans"/>
                <a:cs typeface="Open Sans"/>
              </a:rPr>
              <a:t>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F3616C-7BE6-F816-75A4-56FDAA5A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000" smtClean="0">
                <a:solidFill>
                  <a:schemeClr val="bg1"/>
                </a:solidFill>
              </a:rPr>
              <a:t>11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613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1601</TotalTime>
  <Words>974</Words>
  <Application>Microsoft Office PowerPoint</Application>
  <PresentationFormat>Широкоэкранный</PresentationFormat>
  <Paragraphs>152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Open Sans</vt:lpstr>
      <vt:lpstr>office theme</vt:lpstr>
      <vt:lpstr>Методы анализа распространения лазерного пучка в атмосферной турбулентности</vt:lpstr>
      <vt:lpstr>Актуальность</vt:lpstr>
      <vt:lpstr>Методы подсчета  рассеивания пучка</vt:lpstr>
      <vt:lpstr>Методы подсчета  рассеивания пучка</vt:lpstr>
      <vt:lpstr>Методы фильтрации  временных рядов</vt:lpstr>
      <vt:lpstr>Методы фильтрации  временных рядов</vt:lpstr>
      <vt:lpstr>Методы фильтрации  временных рядов</vt:lpstr>
      <vt:lpstr>Подходы к построению моделей</vt:lpstr>
      <vt:lpstr>Подходы к построению моделей</vt:lpstr>
      <vt:lpstr>Подходы к  построению моделей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Stepan argon</dc:creator>
  <cp:lastModifiedBy>Office</cp:lastModifiedBy>
  <cp:revision>491</cp:revision>
  <dcterms:created xsi:type="dcterms:W3CDTF">2026-03-25T18:52:24Z</dcterms:created>
  <dcterms:modified xsi:type="dcterms:W3CDTF">2026-03-30T22:14:22Z</dcterms:modified>
</cp:coreProperties>
</file>